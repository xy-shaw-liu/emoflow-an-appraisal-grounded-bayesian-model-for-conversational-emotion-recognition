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EmoFlow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800" b="0">
                <a:solidFill>
                  <a:srgbClr val="F5F7FA"/>
                </a:solidFill>
                <a:latin typeface="Calibri"/>
              </a:rPr>
              <a:t>An Appraisal-Grounded Bayesian Model</a:t>
            </a:r>
          </a:p>
          <a:p>
            <a:pPr algn="ctr"/>
            <a:r>
              <a:rPr sz="2800" b="0">
                <a:solidFill>
                  <a:srgbClr val="F5F7FA"/>
                </a:solidFill>
                <a:latin typeface="Calibri"/>
              </a:rPr>
              <a:t>for Conversational Emotion 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F5F7FA"/>
                </a:solidFill>
                <a:latin typeface="Calibri"/>
              </a:rPr>
              <a:t>Xiaoyi Liu   ·   Zhiye Jiang   ·   Ruitian Liu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C0CBDC"/>
                </a:solidFill>
                <a:latin typeface="Calibri"/>
              </a:rPr>
              <a:t>ECS 271 — Machine Learning — UC Davis,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37160" cy="1371600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5486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26D5C"/>
                </a:solidFill>
                <a:latin typeface="Calibri"/>
              </a:rPr>
              <a:t>PART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0B2B4A"/>
                </a:solidFill>
                <a:latin typeface="Calibri"/>
              </a:rPr>
              <a:t>Background &amp;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What is conversational emotion recognition, and why is it hard?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The Task: Conversational Emotion Recognition (ERC)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Calibri"/>
              </a:rPr>
              <a:t>Given a dialogue, predict the emotion of every turn.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68580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Calibri"/>
              </a:rPr>
              <a:t>Example — same utterance, three emotions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6583680" cy="3383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Consolas"/>
              </a:rPr>
              <a:t>A:  "Did you finish the report?"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Consolas"/>
              </a:rPr>
              <a:t>B:  "Sure."                           → neutral  (acknowledgement)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Consolas"/>
              </a:rPr>
              <a:t/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Consolas"/>
              </a:rPr>
              <a:t>A:  "You owe me twenty bucks."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Consolas"/>
              </a:rPr>
              <a:t>B:  "Sure."                           → disgust  (sarcastic)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Consolas"/>
              </a:rPr>
              <a:t/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Consolas"/>
              </a:rPr>
              <a:t>A:  "…so will you marry me?"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Consolas"/>
              </a:rPr>
              <a:t>B:  "Sure!"                           → surprise / joy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3736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Formal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9456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Input: utterances u₁, u₂, …, u_T from one or more speakers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Output: emotion label y_t ∈ ℰ for every turn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ℰ = {neutral, joy, sadness, anger, fear, disgust, surprise}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Benchmark: MELD (Friends transcripts, 13K turns, 7 classes)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Why ERC Is Harder Than Sentence-Level Emotion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474720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26D5C"/>
                </a:solidFill>
                <a:latin typeface="Calibri"/>
              </a:rPr>
              <a:t>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B2B4A"/>
                </a:solidFill>
                <a:latin typeface="Calibri"/>
              </a:rPr>
              <a:t>Context dependence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10896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Calibri"/>
              </a:rPr>
              <a:t>The same words mean different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Calibri"/>
              </a:rPr>
              <a:t>things in different histories.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onsolas"/>
              </a:rPr>
              <a:t>"Sure." depends entirely on the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Consolas"/>
              </a:rPr>
              <a:t>turns that came before.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371600"/>
            <a:ext cx="347472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371600"/>
            <a:ext cx="3474720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554480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26D5C"/>
                </a:solidFill>
                <a:latin typeface="Calibri"/>
              </a:rPr>
              <a:t>(2)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9202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B2B4A"/>
                </a:solidFill>
                <a:latin typeface="Calibri"/>
              </a:rPr>
              <a:t>Emotional inertia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651760"/>
            <a:ext cx="310896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Calibri"/>
              </a:rPr>
              <a:t>Emotions persist across turns.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02336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29768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onsolas"/>
              </a:rPr>
              <a:t>After three angry turns, a flat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Consolas"/>
              </a:rPr>
              <a:t>"Whatever." is still angry.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371600"/>
            <a:ext cx="347472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1371600"/>
            <a:ext cx="3474720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554480"/>
            <a:ext cx="914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26D5C"/>
                </a:solidFill>
                <a:latin typeface="Calibri"/>
              </a:rPr>
              <a:t>(3)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92024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B2B4A"/>
                </a:solidFill>
                <a:latin typeface="Calibri"/>
              </a:rPr>
              <a:t>Severe class imbalance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651760"/>
            <a:ext cx="310896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Calibri"/>
              </a:rPr>
              <a:t>Long-tailed label distribution.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023360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297680"/>
            <a:ext cx="31089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onsolas"/>
              </a:rPr>
              <a:t>MELD: neutral 48 %, fear + disgust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Consolas"/>
              </a:rPr>
              <a:t>together &lt; 5 %.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Naive classifiers collapse to the majority class.   Generic recurrent models overfit small ERC datasets.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Limitations of Existing ERC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Calibri"/>
              </a:rPr>
              <a:t>State-of-the-art models work, but they are black boxes.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124711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326"/>
                <a:gridCol w="2719083"/>
                <a:gridCol w="6797709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Issue we want to address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RNN-based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DialogueRNN (2019)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Context, speaker, emotion entangled in one hidden state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Graph-based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DialogueGCN, MMGCN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Heavy parameters; no interpretable intermediate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LLM fine-tune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COSMIC (BERT-large)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100M – 300M+ parameters; opaque representations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Pure prompting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Zero-/few-shot LLM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No temporal model; unstable on rare classes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2B4A"/>
                </a:solidFill>
                <a:latin typeface="Calibri"/>
              </a:rPr>
              <a:t>What's missing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60"/>
              </a:spcAft>
            </a:pPr>
            <a:r>
              <a:rPr sz="1700" b="0">
                <a:solidFill>
                  <a:srgbClr val="1F2A37"/>
                </a:solidFill>
                <a:latin typeface="Calibri"/>
              </a:rPr>
              <a:t>•  An interpretable bottleneck that humans can inspect</a:t>
            </a:r>
          </a:p>
          <a:p>
            <a:pPr algn="l">
              <a:spcAft>
                <a:spcPts val="1360"/>
              </a:spcAft>
            </a:pPr>
            <a:r>
              <a:rPr sz="1700" b="0">
                <a:solidFill>
                  <a:srgbClr val="1F2A37"/>
                </a:solidFill>
                <a:latin typeface="Calibri"/>
              </a:rPr>
              <a:t>•  An explicit, structured way to combine context with current evidence</a:t>
            </a:r>
          </a:p>
          <a:p>
            <a:pPr algn="l">
              <a:spcAft>
                <a:spcPts val="1360"/>
              </a:spcAft>
            </a:pPr>
            <a:r>
              <a:rPr sz="1700" b="0">
                <a:solidFill>
                  <a:srgbClr val="1F2A37"/>
                </a:solidFill>
                <a:latin typeface="Calibri"/>
              </a:rPr>
              <a:t>•  Strong inductive bias to survive the long-tailed label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Our Angle: Appraisal Theory + Bayesian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Calibri"/>
              </a:rPr>
              <a:t>Borrow structure from emotion psychology rather than scaling parameters.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749039" cy="429768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749039" cy="5486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1.  Appraisal grounding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38328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Force the bottleneck to be an 8-dim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Scherer appraisal vector — each axis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has psychological meaning.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33832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E26D5C"/>
                </a:solidFill>
                <a:latin typeface="Calibri"/>
              </a:rPr>
              <a:t>→ Interpretability + theoretical prior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737360"/>
            <a:ext cx="3749039" cy="429768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737360"/>
            <a:ext cx="3749039" cy="5486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2880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2.  Bayesian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68880"/>
            <a:ext cx="338328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Keep context prior and current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likelihood separable instead of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entangled in an RNN state.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5212080"/>
            <a:ext cx="33832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E26D5C"/>
                </a:solidFill>
                <a:latin typeface="Calibri"/>
              </a:rPr>
              <a:t>→ Inductive bias + ablatable 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737360"/>
            <a:ext cx="3749039" cy="429768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1737360"/>
            <a:ext cx="3749039" cy="5486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82880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3.  Exponential-decay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468880"/>
            <a:ext cx="338328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Aggregate past appraisals with a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single learnable λ rather than a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generic recurrent cell.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5212080"/>
            <a:ext cx="33832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E26D5C"/>
                </a:solidFill>
                <a:latin typeface="Calibri"/>
              </a:rPr>
              <a:t>→ Resists overfitting on small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2F9E44"/>
                </a:solidFill>
                <a:latin typeface="Calibri"/>
              </a:rPr>
              <a:t>Headline:  wF1 = 0.62 on MELD with only ~20 M trainable params — controlled ablations (Part III) isolate the architecture's gains.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37160" cy="1371600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5486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26D5C"/>
                </a:solidFill>
                <a:latin typeface="Calibri"/>
              </a:rPr>
              <a:t>PART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0B2B4A"/>
                </a:solidFill>
                <a:latin typeface="Calibri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Three components, grounded in Scherer's Component Process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Theoretical Foundation: Scherer's Component Process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1F2A37"/>
                </a:solidFill>
                <a:latin typeface="Calibri"/>
              </a:rPr>
              <a:t>Emotions arise from a sequence of cognitive appraisal checks of an event.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The 8 ISEAR appraisal dimensions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26D5C"/>
                </a:solidFill>
                <a:latin typeface="Consolas"/>
              </a:rPr>
              <a:t>  expectedness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4884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Was the event expected?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4884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26D5C"/>
                </a:solidFill>
                <a:latin typeface="Consolas"/>
              </a:rPr>
              <a:t>  unpleasantness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4884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Is it intrinsically unpleasant?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26D5C"/>
                </a:solidFill>
                <a:latin typeface="Consolas"/>
              </a:rPr>
              <a:t>  goal_hindrance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69748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Does it block my goals?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9748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26D5C"/>
                </a:solidFill>
                <a:latin typeface="Consolas"/>
              </a:rPr>
              <a:t>  external_causation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69748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Caused by someone / something else?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26D5C"/>
                </a:solidFill>
                <a:latin typeface="Consolas"/>
              </a:rPr>
              <a:t>  coping_potential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24612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Can I cope with / control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4612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26D5C"/>
                </a:solidFill>
                <a:latin typeface="Consolas"/>
              </a:rPr>
              <a:t>  unfairness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4612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Is it unfair?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26D5C"/>
                </a:solidFill>
                <a:latin typeface="Consolas"/>
              </a:rPr>
              <a:t>  immorality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79476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Does it violate moral norms?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79476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26D5C"/>
                </a:solidFill>
                <a:latin typeface="Consolas"/>
              </a:rPr>
              <a:t>  self_consistency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79476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Does it fit my self-image?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Calibri"/>
              </a:rPr>
              <a:t>Each emotion has a distinctive appraisal signature.</a:t>
            </a:r>
          </a:p>
          <a:p>
            <a:pPr algn="l"/>
            <a:r>
              <a:rPr sz="1500" b="0">
                <a:solidFill>
                  <a:srgbClr val="1F2A37"/>
                </a:solidFill>
                <a:latin typeface="Calibri"/>
              </a:rPr>
              <a:t>Example — anger:  max-valued on unpleasantness, goal_hindrance, unfairness, immorality.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Reference:  Scherer, K. R. (2001). Appraisal Processes in Emotion — Table 5.5.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1F2A37"/>
                </a:solidFill>
                <a:latin typeface="Calibri"/>
              </a:rPr>
              <a:t>Three stages mirroring CPM:  stimulus → appraisal → emotion.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2468880" cy="14630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51460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StimulusEncoder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80360"/>
            <a:ext cx="24688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Calibri"/>
              </a:rPr>
              <a:t>frozen LLaMA-3-8B</a:t>
            </a:r>
          </a:p>
          <a:p>
            <a:pPr algn="ctr"/>
            <a:r>
              <a:rPr sz="1200" b="0">
                <a:solidFill>
                  <a:srgbClr val="F5F7FA"/>
                </a:solidFill>
                <a:latin typeface="Calibri"/>
              </a:rPr>
              <a:t>+ LoRA + AppraisalHead</a:t>
            </a:r>
          </a:p>
          <a:p>
            <a:pPr algn="ctr"/>
            <a:r>
              <a:rPr sz="1200" b="0">
                <a:solidFill>
                  <a:srgbClr val="F5F7FA"/>
                </a:solidFill>
                <a:latin typeface="Calibri"/>
              </a:rPr>
              <a:t>encoder.py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26080" y="2743200"/>
            <a:ext cx="822960" cy="457200"/>
          </a:xfrm>
          <a:prstGeom prst="rightArrow">
            <a:avLst/>
          </a:prstGeom>
          <a:solidFill>
            <a:srgbClr val="E2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37744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onsolas"/>
              </a:rPr>
              <a:t>appraisal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onsolas"/>
              </a:rPr>
              <a:t>(8-d)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2377440"/>
            <a:ext cx="2468880" cy="14630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51460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TemporalMemory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880360"/>
            <a:ext cx="24688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Calibri"/>
              </a:rPr>
              <a:t>exp(−λ·Δt) decay</a:t>
            </a:r>
          </a:p>
          <a:p>
            <a:pPr algn="ctr"/>
            <a:r>
              <a:rPr sz="1200" b="0">
                <a:solidFill>
                  <a:srgbClr val="F5F7FA"/>
                </a:solidFill>
                <a:latin typeface="Calibri"/>
              </a:rPr>
              <a:t>over past appraisals</a:t>
            </a:r>
          </a:p>
          <a:p>
            <a:pPr algn="ctr"/>
            <a:r>
              <a:rPr sz="1200" b="0">
                <a:solidFill>
                  <a:srgbClr val="F5F7FA"/>
                </a:solidFill>
                <a:latin typeface="Calibri"/>
              </a:rPr>
              <a:t>memory.py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00800" y="2743200"/>
            <a:ext cx="822960" cy="457200"/>
          </a:xfrm>
          <a:prstGeom prst="rightArrow">
            <a:avLst/>
          </a:prstGeom>
          <a:solidFill>
            <a:srgbClr val="E2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onsolas"/>
              </a:rPr>
              <a:t>memory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onsolas"/>
              </a:rPr>
              <a:t>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377440"/>
            <a:ext cx="2468880" cy="146304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51460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BayesianHead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880360"/>
            <a:ext cx="24688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Calibri"/>
              </a:rPr>
              <a:t>log-additive fusion</a:t>
            </a:r>
          </a:p>
          <a:p>
            <a:pPr algn="ctr"/>
            <a:r>
              <a:rPr sz="1200" b="0">
                <a:solidFill>
                  <a:srgbClr val="F5F7FA"/>
                </a:solidFill>
                <a:latin typeface="Calibri"/>
              </a:rPr>
              <a:t>prior + likelihood</a:t>
            </a:r>
          </a:p>
          <a:p>
            <a:pPr algn="ctr"/>
            <a:r>
              <a:rPr sz="1200" b="0">
                <a:solidFill>
                  <a:srgbClr val="F5F7FA"/>
                </a:solidFill>
                <a:latin typeface="Calibri"/>
              </a:rPr>
              <a:t>bayes.py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875520" y="2743200"/>
            <a:ext cx="822960" cy="457200"/>
          </a:xfrm>
          <a:prstGeom prst="rightArrow">
            <a:avLst/>
          </a:prstGeom>
          <a:solidFill>
            <a:srgbClr val="E26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37744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onsolas"/>
              </a:rPr>
              <a:t>6 logits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89920" y="2377440"/>
            <a:ext cx="1188720" cy="1463040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0" y="2514600"/>
            <a:ext cx="1188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2880360"/>
            <a:ext cx="1188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F5F7FA"/>
                </a:solidFill>
                <a:latin typeface="Calibri"/>
              </a:rPr>
              <a:t>sigmoid + τ</a:t>
            </a:r>
          </a:p>
          <a:p>
            <a:pPr algn="ctr"/>
            <a:r>
              <a:rPr sz="1200" b="0">
                <a:solidFill>
                  <a:srgbClr val="F5F7FA"/>
                </a:solidFill>
                <a:latin typeface="Calibri"/>
              </a:rPr>
              <a:t>→ 6 emotions</a:t>
            </a:r>
          </a:p>
          <a:p>
            <a:pPr algn="ctr"/>
            <a:r>
              <a:rPr sz="1200" b="0">
                <a:solidFill>
                  <a:srgbClr val="F5F7FA"/>
                </a:solidFill>
                <a:latin typeface="Calibri"/>
              </a:rPr>
              <a:t>or neutral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06240"/>
            <a:ext cx="9509760" cy="8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297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onsolas"/>
              </a:rPr>
              <a:t>Likelihood path:  current appraisal → likelihood logits  (BayesianHead also takes the raw current appraisal directly)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Trainable parameter budget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492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AppraisalHead — Linear(4096→4096→8):  ~17 M  (the bulk)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LoRA adapters — r = 8 on q_proj / v_proj × 32 layers:  ~4 M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TemporalMemory (1 scalar λ) + BayesianHead (two 8→64→6 MLPs):  ~2 K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Total trainable:  ~20 M     ·     0.25% of the frozen 8 B backbone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Component 1 — StimulusEncoder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1F2A37"/>
                </a:solidFill>
                <a:latin typeface="Calibri"/>
              </a:rPr>
              <a:t>Map an utterance to an 8-dim appraisal vector.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Tokenize utterance with LLaMA-3 tokenizer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Forward through frozen LLaMA-3-8B + LoRA adapters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Pool the last non-pad token's hidden state (∈ ℝ⁴⁰⁹⁶)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AppraisalHead: Linear(4096→4096) → GELU → Linear(4096→8)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Output: 8-d vector a_t — one entry per Scherer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Design choices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LoRA only (r=8, α=16) — backbone weights frozen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QLoRA (NF4 4-bit) backbone — fits in a 24 GB GPU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DistilBERT swap for fast local dev / ablation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No sigmoid on the head output  (see Part III)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Weak supervision: MSE against Scherer prototypes + emotion BCE downstream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Calibri"/>
              </a:rPr>
              <a:t>Trainable here:  AppraisalHead (~17 M)  +  LoRA adapters (~4 M)  =  the ~20 M budget.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Appraisal Targets — Raw Z-scores → [0, 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Calibri"/>
              </a:rPr>
              <a:t>Final per-emotion prototype vectors (min-max normalized) used as weak-supervision MSE targets.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47118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403"/>
                <a:gridCol w="1196502"/>
                <a:gridCol w="1196502"/>
                <a:gridCol w="1196502"/>
                <a:gridCol w="1136677"/>
                <a:gridCol w="1076851"/>
                <a:gridCol w="1196502"/>
                <a:gridCol w="1136677"/>
                <a:gridCol w="1196502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Emotion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expect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unplea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goal_h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ext_c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cope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unfair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immor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self_c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joy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fear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0.08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anger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0.53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sadness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disgust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surprise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0.22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Preprocessing — why the raw table can't be used as-is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26D5C"/>
                </a:solidFill>
                <a:latin typeface="Calibri"/>
              </a:rPr>
              <a:t>Raw data (Scherer Table 5.5)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•  Empirical Z-scores from a 37-country ISEAR study (n ≈ 3000).</a:t>
            </a:r>
          </a:p>
          <a:p>
            <a:pPr algn="l">
              <a:spcAft>
                <a:spcPts val="104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•  Centered on the population mean = 0  →  values are signed.</a:t>
            </a:r>
          </a:p>
          <a:p>
            <a:pPr algn="l">
              <a:spcAft>
                <a:spcPts val="104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•  e.g.  joy·unpleasantness = −2.00,   anger·unfairness = +0.58.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3434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26D5C"/>
                </a:solidFill>
                <a:latin typeface="Calibri"/>
              </a:rPr>
              <a:t>Transform → [0,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6634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•  Per-dimension min-max across the 6 emotions.</a:t>
            </a:r>
          </a:p>
          <a:p>
            <a:pPr algn="l">
              <a:spcAft>
                <a:spcPts val="104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•  Per-dim (not global) equalizes scales so no high-variance dim dominates the MSE loss — while preserving emotion ordering within each dim.</a:t>
            </a:r>
          </a:p>
          <a:p>
            <a:pPr algn="l">
              <a:spcAft>
                <a:spcPts val="104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•  Surprise (absent from ISEAR) derived: expectedness set below the empirical min → 0 = max novelty; other dims = mean.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Component 2 — TemporalMemory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1F2A37"/>
                </a:solidFill>
                <a:latin typeface="Calibri"/>
              </a:rPr>
              <a:t>Aggregate past appraisals with a single learnable decay constant.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Calibri"/>
              </a:rPr>
              <a:t>Memory update  (normalized weighted average)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1F2A37"/>
                </a:solidFill>
                <a:latin typeface="Consolas"/>
              </a:rPr>
              <a:t>h_t  =  ( Σ_{i ≤ t}  w_i · a_i )  /  ( Σ_{i ≤ t} w_i ) ,      w_i = exp(−λ · (t − i))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onsolas"/>
              </a:rPr>
              <a:t>Implemented as softmax(−λ·Δt) with causal masking.   λ = softplus(θ), learnable, init 0.1.</a:t>
            </a:r>
          </a:p>
          <a:p>
            <a:pPr algn="l"/>
            <a:r>
              <a:rPr sz="1300" b="0">
                <a:solidFill>
                  <a:srgbClr val="6B7280"/>
                </a:solidFill>
                <a:latin typeface="Consolas"/>
              </a:rPr>
              <a:t>λ = 0  →  uniform mean over past + current;    λ → ∞  →  only the current turn.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Why exponential decay (not BiLSTM)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One learnable scalar  vs.  thousands of recurrent weights → strong inductive bias.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Captures the right qualitative shape: recent turns matter most, distant turns fade.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Closed-form, parallelizable, no vanishing-gradient issues.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Ablation (slide 20):  BiLSTM memory is 14 wF1 points WORSE than no memory at 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Component 3 — BayesianHead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1F2A37"/>
                </a:solidFill>
                <a:latin typeface="Calibri"/>
              </a:rPr>
              <a:t>Fuse context-driven prior with current-evidence likelihood — log-additively.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F2A37"/>
                </a:solidFill>
                <a:latin typeface="Consolas"/>
              </a:rPr>
              <a:t>log P(y_t | a_t, h_t)   ∝   log P(y_t | h_t)         +   log P(a_t | y_t)</a:t>
            </a:r>
          </a:p>
          <a:p>
            <a:pPr algn="l"/>
            <a:r>
              <a:rPr sz="1800" b="0">
                <a:solidFill>
                  <a:srgbClr val="1F2A37"/>
                </a:solidFill>
                <a:latin typeface="Consolas"/>
              </a:rPr>
              <a:t>                                  prior  (from memory)         likelihood  (current)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onsolas"/>
              </a:rPr>
              <a:t>Implementation:   logits = prior_head(h_t)  +  likelihood_head(a_t)</a:t>
            </a:r>
          </a:p>
          <a:p>
            <a:pPr algn="l"/>
            <a:r>
              <a:rPr sz="1300" b="0">
                <a:solidFill>
                  <a:srgbClr val="6B7280"/>
                </a:solidFill>
                <a:latin typeface="Consolas"/>
              </a:rPr>
              <a:t>   each head:  Linear(8→64) → GELU → Dropout(0.1) → Linear(64→6)   (K = 6 non-neutral classes)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Why two heads instead of one big 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434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Decoupling forces interpretable structure — each MLP has an isolated job.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Ablation-friendly: replace MLP_prior with a uniform vector → measures context contribution directly.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Mathematically equivalent to an exact Dirichlet–Categorical posterior under uniform marginals.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Adds structure almost for free: each branch is a tiny 8→64→6 MLP (~1 K weights).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Training Objective + Multilabel Reformulation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Joint loss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760720" cy="146304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Consolas"/>
              </a:rPr>
              <a:t>L  =  L_emo  +  α · L_app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486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onsolas"/>
              </a:rPr>
              <a:t>L_emo:  BCE-with-logits over 7 emotions   (multilabel)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Consolas"/>
              </a:rPr>
              <a:t>L_app:   MSE  â_t  vs  Scherer prototype[y_t]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Consolas"/>
              </a:rPr>
              <a:t>α = 0.1   (tuned on dev)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Multilabel reformulation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Treat neutral as the all-zero target — not a class.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Every non-neutral emotion is an independent 0/1 head.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Structurally prevents the model from collapsing to "all neutral".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Pivotal:  broke us out of the all-neutral failure mode (§III).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Optimization &amp; decoding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AdamW,  lr = 5e-4,  batch size 2 dialogues,  3 epochs.   bf16 backbone / fp32 heads.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Dialogue-level WeightedRandomSampler for rare-class oversampling.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Single threshold τ swept on dev over {0.2 … 0.6};  τ = 0.2 selected — predict neutral if max sigmoid prob &lt; τ.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Scope: Proposal vs.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1F2A37"/>
                </a:solidFill>
                <a:latin typeface="Calibri"/>
              </a:rPr>
              <a:t>We pivoted from a 6-module generation pipeline to a focused, finished classifier.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21792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Proposal (Feb 2026)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Delivered (May 2026)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6 modules: …→ classifier → Response Generator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Classifier only — generator deferred to future work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Primary dataset: EmoryNLP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Primary dataset: MELD  (EmoryNLP class-collapsed pre-fix)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5 aggregated appraisal dimensions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8 raw ISEAR dimensions (preserves anger / disgust separation)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Exact Dirichlet–Categorical update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Log-additive MLP fusion  (equivalent under uniform marginals)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LoRA r = 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LoRA r = 8  (QLoRA memory constraint)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Human Coherence Score evaluation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Not performed — tied to absent Response Generator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Reason for the pivot:  failure-mode debugging (next section) consumed the compute budget originally allocated to the generator.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The classifier is a strict prerequisite for the generator — and a self-contained contribution.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37160" cy="1371600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5486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26D5C"/>
                </a:solidFill>
                <a:latin typeface="Calibri"/>
              </a:rPr>
              <a:t>PART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0B2B4A"/>
                </a:solidFill>
                <a:latin typeface="Calibri"/>
              </a:rPr>
              <a:t>Experiments &amp;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Data, a failure story, results, and ablations.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Data — MELD + Selective Cross-Dataset Augmentation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Datasets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650"/>
                <a:gridCol w="2834640"/>
                <a:gridCol w="106299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Train dlg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MELD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Primary benchmark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1,038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DailyDialog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Rare-class augmentation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11,118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EmoryNLP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Secondary (limited use)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713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0515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MELD train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neutral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0" y="1554480"/>
            <a:ext cx="4727448" cy="18288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71248" y="150876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47 %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joy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1874520"/>
            <a:ext cx="1709928" cy="18288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53728" y="1828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17 %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surprise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2194560"/>
            <a:ext cx="1207008" cy="18288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0808" y="21488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12 %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68879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anger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0" y="2514599"/>
            <a:ext cx="1106424" cy="18288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0224" y="2468879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11 %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889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sadness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0" y="2834640"/>
            <a:ext cx="704088" cy="182880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27889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7 %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0896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disgust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0" y="3154680"/>
            <a:ext cx="301752" cy="182880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310896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3 %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28999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Calibri"/>
              </a:rPr>
              <a:t>fear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0" y="3474719"/>
            <a:ext cx="301752" cy="182880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3428999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3 %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Augmentation strategy — DD-rare3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8912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Add only DailyDialog dialogues containing a fear / disgust / sadness turn (the 3 rarest).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Naive full merge backfires: DailyDialog is 83% no_emotion → would push neutral 47% → 66%.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Selective merge raises rare-class share 12.2% → 15.0%;  fear train count 268 → 414.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Then dialogue-level WeightedRandomSampler oversamples rare-class dialogues up to 30×.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Failure Analysis — Six Mitigations, One Hidden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1F2A37"/>
                </a:solidFill>
                <a:latin typeface="Calibri"/>
              </a:rPr>
              <a:t>Six imbalance-mitigation attempts — none recovered the model.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463040"/>
                <a:gridCol w="2377440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Intervention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Failure mode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Inverse-freq class weights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wF1 0.31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predict all neutral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+ Label smoothing (ε = 0.1)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wF1 0.31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predict all neutral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+ WeightedRandomSampler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0.25 dev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predict all neutral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Multilabel BCE (5-d appraisal)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0.25 dev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marginal collapse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+ Per-dim pos_weight (1−p)/p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0.0025 dev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oversteer to rare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5 → 8-dim appraisal expansion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0.25 dev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F2A37"/>
                          </a:solidFill>
                          <a:latin typeface="Calibri"/>
                        </a:rPr>
                        <a:t>collapse persists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961120" y="169164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C92A2A"/>
                </a:solidFill>
                <a:latin typeface="Calibri"/>
              </a:rPr>
              <a:t>🚩  Attempts 1–3 bit-identical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1945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•  Dev wF1 = 0.2523, 194/607 transitions correct — identical across all three.</a:t>
            </a:r>
          </a:p>
          <a:p>
            <a:pPr algn="l">
              <a:spcAft>
                <a:spcPts val="96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•  Same numbers regardless of the loss-side fix.</a:t>
            </a:r>
          </a:p>
          <a:p>
            <a:pPr algn="l">
              <a:spcAft>
                <a:spcPts val="96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•  First hint: the bug is upstream of the loss.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B2B4A"/>
                </a:solidFill>
                <a:latin typeface="Calibri"/>
              </a:rPr>
              <a:t>Lesson:  identical metrics across different loss-side interventions ⇒ the representation, not the loss, is broken.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Root Cause — Sigmoid Saturation in the Appraisal 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1F2A37"/>
                </a:solidFill>
                <a:latin typeface="Calibri"/>
              </a:rPr>
              <a:t>We diagnosed it by checking representations, not metrics.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Diagnostic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Forward 3 semantically distinct sentences through the encoder.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Inspect each appraisal dim's std across the 3 inputs.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Output bit-identical:  [1,1,1,0,0,1,1,1];  std = 0.000 on every dim.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Zero discrimination — the bottleneck's effective input dimension is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65960"/>
            <a:ext cx="54864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530352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AppraisalHead ended with  σ(·)  to match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Scherer prototypes in [0, 1].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Pre-activation values drifted to large |x|.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→  σ saturates  →  σ' ≈ 0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→  zero gradient through the head</a:t>
            </a:r>
          </a:p>
          <a:p>
            <a:pPr algn="l"/>
            <a:r>
              <a:rPr sz="1400" b="0">
                <a:solidFill>
                  <a:srgbClr val="1F2A37"/>
                </a:solidFill>
                <a:latin typeface="Calibri"/>
              </a:rPr>
              <a:t>→  encoder learns nothing.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Why every imbalance fix failed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834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•  Class weights, focal loss, oversampling all modify the emotion-CE gradient.</a:t>
            </a:r>
          </a:p>
          <a:p>
            <a:pPr algn="l">
              <a:spcAft>
                <a:spcPts val="104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•  But that gradient flows back through a saturated sigmoid into the encoder.</a:t>
            </a:r>
          </a:p>
          <a:p>
            <a:pPr algn="l">
              <a:spcAft>
                <a:spcPts val="104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•  The encoder cannot update → model stays at the prior (majority class).</a:t>
            </a:r>
          </a:p>
          <a:p>
            <a:pPr algn="l">
              <a:spcAft>
                <a:spcPts val="1040"/>
              </a:spcAft>
            </a:pPr>
            <a:r>
              <a:rPr sz="1300" b="0">
                <a:solidFill>
                  <a:srgbClr val="1F2A37"/>
                </a:solidFill>
                <a:latin typeface="Calibri"/>
              </a:rPr>
              <a:t>•  All six interventions produced bit-identical metrics for this reason.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The Fix —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2A2A"/>
                </a:solidFill>
                <a:latin typeface="Calibri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F2A37"/>
                </a:solidFill>
                <a:latin typeface="Consolas"/>
              </a:rPr>
              <a:t>a_t = torch.sigmoid(self.head(h))   # forces output to [0, 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F9E44"/>
                </a:solidFill>
                <a:latin typeface="Calibri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F2A37"/>
                </a:solidFill>
                <a:latin typeface="Consolas"/>
              </a:rPr>
              <a:t>a_t = self.head(h)                  # unbounded; range enforced by MSE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94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Encoder output std across inputs:  0.000  →  0.413.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Post-fix appraisals are input-dependent and Scherer-aligned (e.g. surprise → lowest expectedness).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Imbalance mitigations now actually reach the encoder — previously blocked by the saturated head.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wF1:  ~0.25 (collapsed)  →  0.42 (post-fix)  →  0.62 (+ DD-rare3 augmentation).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E26D5C"/>
                </a:solidFill>
                <a:latin typeface="Calibri"/>
              </a:rPr>
              <a:t>Generalizable lesson:  prefer unbounded activations at internal low-dim bottlenecks; express target ranges through the loss, not the architecture.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Main Results — Ours vs. Our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Calibri"/>
              </a:rPr>
              <a:t>Same config (multilabel BCE, α = 0.1, MELD + DD-rare3, oversample, no sigmoid) — only the model class differs.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83080"/>
          <a:ext cx="1124711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9155"/>
                <a:gridCol w="1620347"/>
                <a:gridCol w="2001606"/>
                <a:gridCol w="1429718"/>
                <a:gridCol w="1906291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wF1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wF1 (6-way)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ETA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trainable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LSTM (BiLSTM over appraisals)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0.4241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0.2719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0.4095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~20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Stateless (no memory)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0.5631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0.4553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0.5462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~20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EmoFlow (λ = 0, no decay)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0.6052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0.5348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0.5617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>
                          <a:solidFill>
                            <a:srgbClr val="1F2A37"/>
                          </a:solidFill>
                          <a:latin typeface="Calibri"/>
                        </a:rPr>
                        <a:t>~20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F2A37"/>
                          </a:solidFill>
                          <a:latin typeface="Calibri"/>
                        </a:rPr>
                        <a:t>EmoFlow (learned λ)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F2A37"/>
                          </a:solidFill>
                          <a:latin typeface="Calibri"/>
                        </a:rPr>
                        <a:t>0.6171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F2A37"/>
                          </a:solidFill>
                          <a:latin typeface="Calibri"/>
                        </a:rPr>
                        <a:t>0.5312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F2A37"/>
                          </a:solidFill>
                          <a:latin typeface="Calibri"/>
                        </a:rPr>
                        <a:t>0.5528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>
                          <a:solidFill>
                            <a:srgbClr val="1F2A37"/>
                          </a:solidFill>
                          <a:latin typeface="Calibri"/>
                        </a:rPr>
                        <a:t>~20 M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663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EmoFlow (learned λ):  +19 wF1 over the LSTM baseline at the same parameter budget.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ETA (Emotion Transition Accuracy): tests turn-to-turn changes — our hardest sub-metric.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wF1_6way drops the dominant neutral class — shows we are actually learning rare classes.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Comparison with Published Models on MELD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97280"/>
                <a:gridCol w="1463040"/>
                <a:gridCol w="5669280"/>
              </a:tblGrid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MELD wF1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Setting / trainable params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DialogueRNN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text · ~3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DialogueGCN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text · ~5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MMGCN †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multimodal · ~110 M+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A37"/>
                          </a:solidFill>
                          <a:latin typeface="Calibri"/>
                        </a:rPr>
                        <a:t>EmoFlow (ours)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1F2A37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1F2A37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>
                          <a:solidFill>
                            <a:srgbClr val="1F2A37"/>
                          </a:solidFill>
                          <a:latin typeface="Calibri"/>
                        </a:rPr>
                        <a:t>text · ~20 M trainable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COSMIC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>
                          <a:solidFill>
                            <a:srgbClr val="1F2A37"/>
                          </a:solidFill>
                          <a:latin typeface="Calibri"/>
                        </a:rPr>
                        <a:t>text · BERT-large ~340 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091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How to read this  —  indicative, NOT controlled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•  Raw MELD number: EmoFlow 0.62 sits above DialogueRNN / GCN / MMGCN, below COSMIC.</a:t>
            </a:r>
          </a:p>
          <a:p>
            <a:pPr algn="l">
              <a:spcAft>
                <a:spcPts val="96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•  BUT EmoFlow adds DailyDialog rare-class augmentation; baselines train on MELD only.</a:t>
            </a:r>
          </a:p>
          <a:p>
            <a:pPr algn="l">
              <a:spcAft>
                <a:spcPts val="96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•  MELD-only EmoFlow ≈ 0.42 — the augmentation drives most of the gap, not the architecture alone.</a:t>
            </a:r>
          </a:p>
          <a:p>
            <a:pPr algn="l">
              <a:spcAft>
                <a:spcPts val="96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•  Controlled evidence = the equal-data, equal-param ablation (previous slide).</a:t>
            </a:r>
          </a:p>
          <a:p>
            <a:pPr algn="l">
              <a:spcAft>
                <a:spcPts val="96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•  † MMGCN's quoted 0.66 is IEMOCAP; its MELD score is 0.5865 · DialogueRNN MELD = 0.5703.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Per-Class Breakdown — and the Fear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685799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647"/>
                <a:gridCol w="1255690"/>
                <a:gridCol w="1448873"/>
                <a:gridCol w="1255690"/>
                <a:gridCol w="115909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Emotion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neutral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1256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joy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402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surprise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281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anger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345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0.53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0.48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sadness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208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disgust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0.44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>
                          <a:solidFill>
                            <a:srgbClr val="1F2A37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fear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1F2A37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FF4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37160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2F9E44"/>
                </a:solidFill>
                <a:latin typeface="Calibri"/>
              </a:rPr>
              <a:t>Six of seven classes learned non-trivially.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828800"/>
            <a:ext cx="4389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C92A2A"/>
                </a:solidFill>
                <a:latin typeface="Calibri"/>
              </a:rPr>
              <a:t>Only fear remains at F1 =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46888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2B4A"/>
                </a:solidFill>
                <a:latin typeface="Calibri"/>
              </a:rPr>
              <a:t>Hypotheses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88036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•  Data-bound: 414 train utterances may be below the discrimination threshold.</a:t>
            </a:r>
          </a:p>
          <a:p>
            <a:pPr algn="l">
              <a:spcAft>
                <a:spcPts val="96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•  Appraisal overlap: fear signature overlaps with sadness + anger in the 8-d space.</a:t>
            </a:r>
          </a:p>
          <a:p>
            <a:pPr algn="l">
              <a:spcAft>
                <a:spcPts val="96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•  Capacity-bound: LoRA r = 8 may lack fine discriminative power for very rare classes.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Ablations — Surprising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(A)  Memory architecture matters more than presence of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Stateless (no memory):   wF1 = 0.5631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BiLSTM memory:                wF1 = 0.4241    ← 14 points WORSE than no memory.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EmoFlow exp-decay:          wF1 = 0.6171    ← 19 points BETTER than BiLSTM.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Generic recurrent priors actively hurt on small ERC datasets.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03320"/>
            <a:ext cx="112471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(B)  Learnable λ helps wF1 but slightly hurts rare-class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λ = 0 (uniform):                    wF1 = 0.6052,   wF1_6way = 0.5348,   ETA = 0.5617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learned λ:                              wF1 = 0.6171,   wF1_6way = 0.5312,   ETA = 0.5528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Learned decay optimizes for the dominant class — but rare-class evidence may live in earlier turns.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Implication: uniform aggregation may be preferable when rare classes are the priority.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Interpretability — Appraisal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Calibri"/>
              </a:rPr>
              <a:t>Test sentences not in training. We read the top-/bottom-activated appraisal dimensions.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3200400"/>
                <a:gridCol w="2286000"/>
                <a:gridCol w="13716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Top dim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Bottom dim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Match</a:t>
                      </a:r>
                    </a:p>
                  </a:txBody>
                  <a:tcPr marL="73152" marR="73152" marT="36576" marB="36576">
                    <a:solidFill>
                      <a:srgbClr val="0B2B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"I am so happy! This is the best day ever."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self_consistency, coping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unpleasantness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Joy 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"Oh my god, what just happened?!"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goal_hindrance, unpleasant.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expectedness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Surprise 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"Get the fuck out of my house!"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unfairness, immorality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self_consistency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Anger 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"I hate this. I want to die."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unpleasant., goal_hindrance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self_consistency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Sad/Anger 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"Just another boring meeting today."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unpleasantness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coping_potential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Disgust/bored 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663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B4A"/>
                </a:solidFill>
                <a:latin typeface="Calibri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Encoder learned Scherer-aligned appraisal patterns WITHOUT per-sentence supervision.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Only 6 emotion-level prototype vectors served as MSE targets.</a:t>
            </a:r>
          </a:p>
          <a:p>
            <a:pPr algn="l">
              <a:spcAft>
                <a:spcPts val="112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•  The 8-d bottleneck is genuinely interpretable — not a post-hoc rationalization.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37160" cy="1371600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5486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26D5C"/>
                </a:solidFill>
                <a:latin typeface="Calibri"/>
              </a:rPr>
              <a:t>PART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0B2B4A"/>
                </a:solidFill>
                <a:latin typeface="Calibri"/>
              </a:rPr>
              <a:t>What's Left &amp; Who Did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Limitations, future work, and the team.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Limitations — What We Did Not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99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(a)  Single primary dataset.  All main numbers on MELD. EmoryNLP results on the post-fix pipeline missing.  IEMOCAP not attempted.</a:t>
            </a:r>
          </a:p>
          <a:p>
            <a:pPr algn="l">
              <a:spcAft>
                <a:spcPts val="2699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(b)  Response Generator not delivered.  Originally module 6 of the pipeline. Debugging budget consumed by §III.</a:t>
            </a:r>
          </a:p>
          <a:p>
            <a:pPr algn="l">
              <a:spcAft>
                <a:spcPts val="2699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(c)  Human Coherence Score evaluation not performed.  Tied to (b).</a:t>
            </a:r>
          </a:p>
          <a:p>
            <a:pPr algn="l">
              <a:spcAft>
                <a:spcPts val="2699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(d)  Fear class not learned.  F1 = 0 despite oversampling and rare-class augmentation.</a:t>
            </a:r>
          </a:p>
          <a:p>
            <a:pPr algn="l">
              <a:spcAft>
                <a:spcPts val="2699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(e)  Bounded by frozen backbone.  ~20 M trainable can approach but not exceed fine-tuned 100 M+ models (COSMIC, MMGCN).</a:t>
            </a:r>
          </a:p>
          <a:p>
            <a:pPr algn="l">
              <a:spcAft>
                <a:spcPts val="2699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(f)  Text only.  MELD has audio + video; prosody / facial expression cues are unused.</a:t>
            </a:r>
          </a:p>
          <a:p>
            <a:pPr algn="l">
              <a:spcAft>
                <a:spcPts val="2699"/>
              </a:spcAft>
            </a:pPr>
            <a:r>
              <a:rPr sz="1500" b="0">
                <a:solidFill>
                  <a:srgbClr val="1F2A37"/>
                </a:solidFill>
                <a:latin typeface="Calibri"/>
              </a:rPr>
              <a:t>•  (g)  Approximate Bayesian update.  Log-additive MLP fusion ≡ exact Dirichlet–Categorical only under uniform marginals.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Future Work — Given More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37160" cy="822960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2B4A"/>
                </a:solidFill>
                <a:latin typeface="Calibri"/>
              </a:rPr>
              <a:t>1.  Complete the proposed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Implement the Response Generator: emotion distribution → soft-prompt prefix → LLaMA-3-8B decoder.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Evaluate via the Coherence Score protocol from the proposal.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37160" cy="822960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2B4A"/>
                </a:solidFill>
                <a:latin typeface="Calibri"/>
              </a:rPr>
              <a:t>2.  Multi-dataset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Add EmoryNLP + IEMOCAP using the post-fix pipeline. The sigmoid-saturation diagnostic should transfer.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137160" cy="822960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2B4A"/>
                </a:solidFill>
                <a:latin typeface="Calibri"/>
              </a:rPr>
              <a:t>3.  Larger LoRA / partial unfreezing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Test r = 16, 32 or unfreeze top LLaMA layers — target the fear-class gap specifically.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137160" cy="822960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2B4A"/>
                </a:solidFill>
                <a:latin typeface="Calibri"/>
              </a:rPr>
              <a:t>4.  Multimodal extension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Inject MELD's audio prosodic features into the appraisal head — should help fear / sadness.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12080"/>
            <a:ext cx="137160" cy="822960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2B4A"/>
                </a:solidFill>
                <a:latin typeface="Calibri"/>
              </a:rPr>
              <a:t>5.  Fully Bayesian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Calibri"/>
              </a:rPr>
              <a:t>Replace the log-additive MLP with an explicit Dirichlet–Categorical update, possibly variational.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6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0B2B4A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274552" cy="1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Calibri"/>
              </a:rPr>
              <a:t>EmoFlow was built by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3200400" cy="2286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Xiaoyi Liu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Calibri"/>
              </a:rPr>
              <a:t>UC Davis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286000"/>
            <a:ext cx="3200400" cy="2286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Zhiye Jiang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661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Calibri"/>
              </a:rPr>
              <a:t>UC Davis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286000"/>
            <a:ext cx="3200400" cy="2286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834640"/>
            <a:ext cx="3200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Ruitian Liu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5661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Calibri"/>
              </a:rPr>
              <a:t>UC Davis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1F2A37"/>
                </a:solidFill>
                <a:latin typeface="Calibri"/>
              </a:rPr>
              <a:t>All authors contributed jointly to the architecture, training, evaluation, and report.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ECS 271 — Machine Learning — UC Davis, Spring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EmoFlow  ·  ECS 271 Spring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200" b="0">
                <a:solidFill>
                  <a:srgbClr val="F5F7FA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C0CBDC"/>
                </a:solidFill>
                <a:latin typeface="Calibri"/>
              </a:rPr>
              <a:t>github.com / EmoFlow   ·   ECS 271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